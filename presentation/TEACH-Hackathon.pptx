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77240" cy="777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Inter"/>
              </a:rPr>
              <a:t>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0F172A"/>
                </a:solidFill>
                <a:latin typeface="Inter"/>
              </a:rPr>
              <a:t>T.E.A.C.H.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4028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0F766E"/>
                </a:solidFill>
                <a:latin typeface="Inter"/>
              </a:rPr>
              <a:t>A concept gap filler — between every student and their teacher.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718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Inter"/>
              </a:rPr>
              <a:t>Teacherless Education through Autonomous Cognitive Heuristics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290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Inter"/>
              </a:rPr>
              <a:t>Infinity Learn · Hackathon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77639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Inter"/>
              </a:rPr>
              <a:t>Nikhil Kumar Singh · Anishwar Sharma · Divyanshu Kumar · Kunal Vijay · Abhishek Kumar Singh · Vikrant Pandey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Inter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Inter"/>
              </a:rPr>
              <a:t>Our teachers are exceptional.</a:t>
            </a:r>
            <a:br/>
            <a:r>
              <a:t>But they can't be available every time, everywhere.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Inter"/>
              </a:rPr>
              <a:t>Batch size, class time, and student hesitation — gaps still grow after the bell rings.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97480"/>
            <a:ext cx="5303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0F172A"/>
                </a:solidFill>
                <a:latin typeface="Inter"/>
              </a:rPr>
              <a:t>IN CLASS — "I understood everything." 😎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F172A"/>
                </a:solidFill>
                <a:latin typeface="Inter"/>
              </a:rPr>
              <a:t>↓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F172A"/>
                </a:solidFill>
                <a:latin typeface="Inter"/>
              </a:rPr>
              <a:t>LATER — "Wait… what was Newton's Second Law?" 💀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F172A"/>
                </a:solidFill>
                <a:latin typeface="Inter"/>
              </a:rPr>
              <a:t>↓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F172A"/>
                </a:solidFill>
                <a:latin typeface="Inter"/>
              </a:rPr>
              <a:t>STUDENT — "If I ask the teacher again… what will they think?"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F172A"/>
                </a:solidFill>
                <a:latin typeface="Inter"/>
              </a:rPr>
              <a:t>↓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F172A"/>
                </a:solidFill>
                <a:latin typeface="Inter"/>
              </a:rPr>
              <a:t>NOVA — "Let's start from the basics."</a:t>
            </a:r>
          </a:p>
        </p:txBody>
      </p:sp>
      <p:pic>
        <p:nvPicPr>
          <p:cNvPr id="6" name="Picture 5" descr="giphy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4160520"/>
            <a:ext cx="2560320" cy="318381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26480" y="26974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0F172A"/>
                </a:solidFill>
                <a:latin typeface="Inter"/>
              </a:rPr>
              <a:t>👥 Batch-level teaching — Exceptional teachers still can't clear every doubt in limited class time.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0F172A"/>
                </a:solidFill>
                <a:latin typeface="Inter"/>
              </a:rPr>
              <a:t>🤐 Student hesitation — "If I go again and again… what will they think?"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0F172A"/>
                </a:solidFill>
                <a:latin typeface="Inter"/>
              </a:rPr>
              <a:t>⏱ Concept gaps linger — Rarely time to re-teach one concept for the whole batch.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Inter"/>
              </a:rP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Inter"/>
              </a:rPr>
              <a:t>A concept gap filler that bridges student and teacher.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Inter"/>
              </a:rPr>
              <a:t>Our teachers are exceptional — Nova doesn't replace them. When a student needs help after class, at home, or late at night, Nova acts as a bridge so no concept gap is left behind.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766E"/>
                </a:solidFill>
                <a:latin typeface="Inter"/>
              </a:rPr>
              <a:t>Student  ↔  Nova · Gap Filler  ↔  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375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Inter"/>
              </a:rPr>
              <a:t>Missed a formula? Lagging on a concept? Ask Nova — anytime, without judgment.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82296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0F172A"/>
                </a:solidFill>
                <a:latin typeface="Inter"/>
              </a:rPr>
              <a:t>Student: "Can you explain this?"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0F172A"/>
                </a:solidFill>
                <a:latin typeface="Inter"/>
              </a:rPr>
              <a:t>Nova: "Of course."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0F172A"/>
                </a:solidFill>
                <a:latin typeface="Inter"/>
              </a:rPr>
              <a:t>Student: "…again?"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0F172A"/>
                </a:solidFill>
                <a:latin typeface="Inter"/>
              </a:rPr>
              <a:t>Nova: "Of course."</a:t>
            </a:r>
          </a:p>
        </p:txBody>
      </p:sp>
      <p:pic>
        <p:nvPicPr>
          <p:cNvPr id="8" name="Picture 7" descr="image-from-rawpixel-id-12165579-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194560"/>
            <a:ext cx="2011680" cy="2011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0" y="45720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0F172A"/>
                </a:solidFill>
                <a:latin typeface="Inter"/>
              </a:rPr>
              <a:t>Explains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F172A"/>
                </a:solidFill>
                <a:latin typeface="Inter"/>
              </a:rPr>
              <a:t>Adapts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F172A"/>
                </a:solidFill>
                <a:latin typeface="Inter"/>
              </a:rPr>
              <a:t>Teaches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F172A"/>
                </a:solidFill>
                <a:latin typeface="Inter"/>
              </a:rPr>
              <a:t>Revises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Inter"/>
              </a:rPr>
              <a:t>HOW IT HELPS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Inter"/>
              </a:rPr>
              <a:t>Not just watching. Not just listening.</a:t>
            </a:r>
            <a:br/>
            <a:r>
              <a:t>Learning with feedback.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0F172A"/>
                </a:solidFill>
                <a:latin typeface="Inter"/>
              </a:rPr>
              <a:t>TEACH ME — Fill concept gaps with step-by-step whiteboard teaching.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F172A"/>
                </a:solidFill>
                <a:latin typeface="Inter"/>
              </a:rPr>
              <a:t>ASK A DOUBT — "What was that formula from today's class?"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F172A"/>
                </a:solidFill>
                <a:latin typeface="Inter"/>
              </a:rPr>
              <a:t>VOICE VIVA 👀 — Light spoken viva; Nova asks so you know where you stand.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461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F766E"/>
                </a:solidFill>
                <a:latin typeface="Inter"/>
              </a:rPr>
              <a:t>Live catalog · teach.db — 4 topics · 48 sessions · 28 teach · 12 doubt · 8 viva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0F172A"/>
                </a:solidFill>
                <a:latin typeface="Inter"/>
              </a:rPr>
              <a:t>Mathematics: Trigonometry — Sin θ &amp; Cos θ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F172A"/>
                </a:solidFill>
                <a:latin typeface="Inter"/>
              </a:rPr>
              <a:t>Physics: Force and Newton's laws of motion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F172A"/>
                </a:solidFill>
                <a:latin typeface="Inter"/>
              </a:rPr>
              <a:t>Physics: Newton Laws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F172A"/>
                </a:solidFill>
                <a:latin typeface="Inter"/>
              </a:rPr>
              <a:t>Physics: Optics Basics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548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0F172A"/>
                </a:solidFill>
                <a:latin typeface="Inter"/>
              </a:rPr>
              <a:t>• Learner progress tracking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0F172A"/>
                </a:solidFill>
                <a:latin typeface="Inter"/>
              </a:rPr>
              <a:t>• Higher engagement — active, not passive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0F172A"/>
                </a:solidFill>
                <a:latin typeface="Inter"/>
              </a:rPr>
              <a:t>• Summarisation potential (roadmap)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0F172A"/>
                </a:solidFill>
                <a:latin typeface="Inter"/>
              </a:rPr>
              <a:t>• Voice narration · whiteboard · adaptive pace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0F172A"/>
                </a:solidFill>
                <a:latin typeface="Inter"/>
              </a:rPr>
              <a:t>• "I just have ONE small doubt." → full teaching session. 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Inter"/>
              </a:rPr>
              <a:t>WHY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Inter"/>
              </a:rPr>
              <a:t>AI can answer. Nova teaches.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0F172A"/>
                </a:solidFill>
                <a:latin typeface="Inter"/>
              </a:rPr>
              <a:t>WATCH &amp; READ ALONE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0F172A"/>
                </a:solidFill>
                <a:latin typeface="Inter"/>
              </a:rPr>
              <a:t>Student: "I'll rewatch the lecture."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0F172A"/>
                </a:solidFill>
                <a:latin typeface="Inter"/>
              </a:rPr>
              <a:t>Student: "Still confused. I'll ask tomorrow." 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1600200"/>
            <a:ext cx="5303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0F172A"/>
                </a:solidFill>
                <a:latin typeface="Inter"/>
              </a:rPr>
              <a:t>NOVA · GAP FILLER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0F172A"/>
                </a:solidFill>
                <a:latin typeface="Inter"/>
              </a:rPr>
              <a:t>Student: "I didn't get Newton's Second Law from class."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0F172A"/>
                </a:solidFill>
                <a:latin typeface="Inter"/>
              </a:rPr>
              <a:t>Nova: "Imagine you're sitting in a moving bus…"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0F172A"/>
                </a:solidFill>
                <a:latin typeface="Inter"/>
              </a:rPr>
              <a:t>Nova: "Build the concept — First Law, Second Law — and check with a viva."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React + Vite · FastAPI · AWS Bedrock · Claude · Amazon Nova Sonic · Google Cloud TTS · Structured Prompts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519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0F766E"/>
                </a:solidFill>
                <a:latin typeface="Inter"/>
              </a:rPr>
              <a:t>Built on teach.db — 4 published topics, 48 real sessions. Demo: Newton Laws.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Inter"/>
              </a:rPr>
              <a:t>T.E.A.C.H.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Inter"/>
              </a:rPr>
              <a:t>Our teachers are exceptional.</a:t>
            </a:r>
            <a:br/>
            <a:r>
              <a:t>We believe every student deserves access to one — anytime.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290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Inter"/>
              </a:rPr>
              <a:t>Nova fills the gaps when teachers can't be everywhere.</a:t>
            </a:r>
            <a:br/>
            <a:r>
              <a:t>Teachers stay at the centre. Learning never stops because the classroom did.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